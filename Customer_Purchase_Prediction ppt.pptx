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9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67D-4950-9F7B-43A770A82686}"/>
              </c:ext>
            </c:extLst>
          </c:dPt>
          <c:dPt>
            <c:idx val="1"/>
            <c:bubble3D val="0"/>
            <c:spPr>
              <a:solidFill>
                <a:srgbClr val="F28C2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67D-4950-9F7B-43A770A8268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7D-4950-9F7B-43A770A8268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67D-4950-9F7B-43A770A8268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Training</c:v>
                </c:pt>
                <c:pt idx="1">
                  <c:v>Testing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7D-4950-9F7B-43A770A82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0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60066"/>
            <a:ext cx="5852160" cy="5852160"/>
          </a:xfrm>
          <a:prstGeom prst="ellipse">
            <a:avLst/>
          </a:prstGeom>
          <a:solidFill>
            <a:srgbClr val="16386B"/>
          </a:solidFill>
          <a:ln w="12700">
            <a:solidFill>
              <a:srgbClr val="16386B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3" name="Shape 1"/>
          <p:cNvSpPr/>
          <p:nvPr/>
        </p:nvSpPr>
        <p:spPr>
          <a:xfrm>
            <a:off x="8595360" y="1508760"/>
            <a:ext cx="3108960" cy="3108960"/>
          </a:xfrm>
          <a:prstGeom prst="ellipse">
            <a:avLst/>
          </a:prstGeom>
          <a:solidFill>
            <a:srgbClr val="16386B"/>
          </a:solidFill>
          <a:ln w="12700">
            <a:solidFill>
              <a:srgbClr val="163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07680" y="1938847"/>
            <a:ext cx="2286000" cy="22860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65176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(25SC2107E)  |  SEC 5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3880" y="14401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Purchase Prediction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37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 and Random Forest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805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K.Sanjana   2520030229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G.Keerthi   2520030092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– 2026-2027  |  Trimester 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669280" cy="4526280"/>
          </a:xfrm>
          <a:prstGeom prst="roundRect">
            <a:avLst>
              <a:gd name="adj" fmla="val 282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a customer’s browsing behavior, predict whether the customer will make a purchase or not.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6386B"/>
          </a:solidFill>
          <a:ln w="12700">
            <a:solidFill>
              <a:srgbClr val="1638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57200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70048" y="4956048"/>
            <a:ext cx="365760" cy="201168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45262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4526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(1)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51206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Purchase (0)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1554480"/>
            <a:ext cx="5056632" cy="1417320"/>
          </a:xfrm>
          <a:prstGeom prst="roundRect">
            <a:avLst>
              <a:gd name="adj" fmla="val 7742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920240"/>
            <a:ext cx="685800" cy="685800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730" y="2091690"/>
            <a:ext cx="342900" cy="3429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7266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customer behavior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21214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activity, session duration and pages viewed carry signals of purchase intent.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583680" y="3108960"/>
            <a:ext cx="5056632" cy="1417320"/>
          </a:xfrm>
          <a:prstGeom prst="roundRect">
            <a:avLst>
              <a:gd name="adj" fmla="val 7742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12280" y="3474720"/>
            <a:ext cx="685800" cy="685800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730" y="3646170"/>
            <a:ext cx="342900" cy="3429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72668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potential customers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7726680" y="36758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some visitors will buy — organizations need to find them more effectively.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583680" y="4663440"/>
            <a:ext cx="5056632" cy="1417320"/>
          </a:xfrm>
          <a:prstGeom prst="roundRect">
            <a:avLst>
              <a:gd name="adj" fmla="val 7742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812280" y="5029200"/>
            <a:ext cx="685800" cy="685800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3730" y="5200650"/>
            <a:ext cx="342900" cy="3429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726680" y="4846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wasted marketing effort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7726680" y="52303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Untargeted marketing spends effort on visitors who will not buy; predictions enable targeted offers.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Prediction  |  Machine Learning (25SC2107E)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526280"/>
          </a:xfrm>
          <a:prstGeom prst="roundRect">
            <a:avLst>
              <a:gd name="adj" fmla="val 35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868680" cy="86868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AIM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290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whether a customer is likely to make a purchase or not.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0" y="1554480"/>
            <a:ext cx="7068312" cy="804672"/>
          </a:xfrm>
          <a:prstGeom prst="roundRect">
            <a:avLst>
              <a:gd name="adj" fmla="val 1136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73168" y="1709928"/>
            <a:ext cx="493776" cy="493776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73168" y="1709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16276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 the data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19202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data, handle missing and inconsistent values, and select relevant features.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2468880"/>
            <a:ext cx="7068312" cy="804672"/>
          </a:xfrm>
          <a:prstGeom prst="roundRect">
            <a:avLst>
              <a:gd name="adj" fmla="val 1136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73168" y="2624328"/>
            <a:ext cx="493776" cy="493776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73168" y="2624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0" y="2542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dataset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28346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data into training (80%) and testing (20%) sets.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0" y="3383280"/>
            <a:ext cx="7068312" cy="804672"/>
          </a:xfrm>
          <a:prstGeom prst="roundRect">
            <a:avLst>
              <a:gd name="adj" fmla="val 1136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73168" y="3538728"/>
            <a:ext cx="493776" cy="493776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73168" y="35387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0" y="34564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two models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37490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 and Random Forest on the training data.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0" y="4297680"/>
            <a:ext cx="7068312" cy="804672"/>
          </a:xfrm>
          <a:prstGeom prst="roundRect">
            <a:avLst>
              <a:gd name="adj" fmla="val 1136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73168" y="4453128"/>
            <a:ext cx="493776" cy="493776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73168" y="44531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0" y="43708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performance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0" y="46634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both models on the testing data using accuracy, precision, recall, F1-score and confusion matrix.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0" y="5212080"/>
            <a:ext cx="7068312" cy="804672"/>
          </a:xfrm>
          <a:prstGeom prst="roundRect">
            <a:avLst>
              <a:gd name="adj" fmla="val 1136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73168" y="5367528"/>
            <a:ext cx="493776" cy="493776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73168" y="5367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0" y="52852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targeted marketing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0" y="55778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predictions to identify potential customers and support personalized offers.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Prediction  |  Machine Learning (25SC2107E)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INTENTION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01000" cy="473659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admin pages visited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information pages visited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ProductRelated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product pages visited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705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spent on pages (in seconds)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63973.20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BounceRates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who left the site quickly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– 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ExitRates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who left from that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– 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of the pages visited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– 361.76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of the visit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Jan, Feb, Mar … Dec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visitor or Returning visitor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New_Visitor, Returning_Visitor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on weekend or not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TRUE, 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the visit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Visitor’s region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(Target)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customer purchased or not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(Purchase)  </a:t>
                      </a: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(No Purchase)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8869680" y="1463040"/>
            <a:ext cx="2770632" cy="1463040"/>
          </a:xfrm>
          <a:prstGeom prst="roundRect">
            <a:avLst>
              <a:gd name="adj" fmla="val 75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09828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09828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describing each website visit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869680" y="3099816"/>
            <a:ext cx="2770632" cy="1463040"/>
          </a:xfrm>
          <a:prstGeom prst="roundRect">
            <a:avLst>
              <a:gd name="adj" fmla="val 75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98280" y="32826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39227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classes: Revenue TRUE (purchase) or FALSE (no purchase)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69680" y="4736592"/>
            <a:ext cx="2770632" cy="1463040"/>
          </a:xfrm>
          <a:prstGeom prst="roundRect">
            <a:avLst>
              <a:gd name="adj" fmla="val 75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098280" y="49194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9098280" y="5559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Intention dataset (CSV file)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Prediction  |  Machine Learning (25SC2107E)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PREDICTION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16636" y="14630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" y="1600200"/>
            <a:ext cx="384048" cy="384048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379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10996" y="16002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4892" y="2825496"/>
            <a:ext cx="201168" cy="201168"/>
          </a:xfrm>
          <a:prstGeom prst="rightArrow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02636" y="14630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39796" y="1600200"/>
            <a:ext cx="384048" cy="38404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3979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96996" y="16002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50892" y="2825496"/>
            <a:ext cx="201168" cy="201168"/>
          </a:xfrm>
          <a:prstGeom prst="rightArrow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88636" y="14630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25796" y="1600200"/>
            <a:ext cx="384048" cy="384048"/>
          </a:xfrm>
          <a:prstGeom prst="ellipse">
            <a:avLst/>
          </a:prstGeom>
          <a:solidFill>
            <a:srgbClr val="E8961E"/>
          </a:solidFill>
          <a:ln w="12700">
            <a:solidFill>
              <a:srgbClr val="E896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2579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82996" y="16002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SPLIT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6892" y="2825496"/>
            <a:ext cx="201168" cy="201168"/>
          </a:xfrm>
          <a:prstGeom prst="rightArrow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4636" y="14630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1796" y="1600200"/>
            <a:ext cx="384048" cy="384048"/>
          </a:xfrm>
          <a:prstGeom prst="ellipse">
            <a:avLst/>
          </a:prstGeom>
          <a:solidFill>
            <a:srgbClr val="7B55C7"/>
          </a:solidFill>
          <a:ln w="12700">
            <a:solidFill>
              <a:srgbClr val="7B55C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1179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68996" y="16002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22892" y="2825496"/>
            <a:ext cx="201168" cy="201168"/>
          </a:xfrm>
          <a:prstGeom prst="rightArrow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60636" y="14630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97796" y="1600200"/>
            <a:ext cx="384048" cy="38404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9779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254996" y="16002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2194560"/>
            <a:ext cx="640080" cy="64008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53796" y="30175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Intention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file)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2939796" y="21945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variables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5408676" y="2103120"/>
          <a:ext cx="137160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Shape 28"/>
          <p:cNvSpPr/>
          <p:nvPr/>
        </p:nvSpPr>
        <p:spPr>
          <a:xfrm>
            <a:off x="5271516" y="3474720"/>
            <a:ext cx="128016" cy="128016"/>
          </a:xfrm>
          <a:prstGeom prst="rect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72684" y="3401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(80%)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records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271516" y="3931920"/>
            <a:ext cx="128016" cy="128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472684" y="38587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set (20%)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records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557516" y="224028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7B55C7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557516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50" dirty="0"/>
          </a:p>
        </p:txBody>
      </p:sp>
      <p:sp>
        <p:nvSpPr>
          <p:cNvPr id="38" name="Shape 34"/>
          <p:cNvSpPr/>
          <p:nvPr/>
        </p:nvSpPr>
        <p:spPr>
          <a:xfrm>
            <a:off x="7557516" y="320040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7B55C7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557516" y="3200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50" dirty="0"/>
          </a:p>
        </p:txBody>
      </p:sp>
      <p:sp>
        <p:nvSpPr>
          <p:cNvPr id="40" name="Text 36"/>
          <p:cNvSpPr txBox="1"/>
          <p:nvPr/>
        </p:nvSpPr>
        <p:spPr>
          <a:xfrm>
            <a:off x="9797796" y="21945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516636" y="4617720"/>
            <a:ext cx="6949440" cy="1600200"/>
          </a:xfrm>
          <a:prstGeom prst="roundRect">
            <a:avLst>
              <a:gd name="adj" fmla="val 571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58368" y="4754880"/>
            <a:ext cx="384048" cy="38404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58368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1115568" y="4754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(OUTPUT)</a:t>
            </a:r>
            <a:endParaRPr lang="en-US" sz="1200" dirty="0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303520"/>
            <a:ext cx="502920" cy="502920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1600200" y="5257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300" dirty="0"/>
          </a:p>
        </p:txBody>
      </p:sp>
      <p:sp>
        <p:nvSpPr>
          <p:cNvPr id="47" name="Shape 42"/>
          <p:cNvSpPr/>
          <p:nvPr/>
        </p:nvSpPr>
        <p:spPr>
          <a:xfrm>
            <a:off x="3429000" y="5458968"/>
            <a:ext cx="457200" cy="201168"/>
          </a:xfrm>
          <a:prstGeom prst="rightArrow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5303520"/>
            <a:ext cx="502920" cy="502920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4800600" y="51206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(1)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Purchase (0)</a:t>
            </a:r>
            <a:endParaRPr lang="en-US" sz="1300" dirty="0"/>
          </a:p>
        </p:txBody>
      </p:sp>
      <p:sp>
        <p:nvSpPr>
          <p:cNvPr id="50" name="Shape 44"/>
          <p:cNvSpPr/>
          <p:nvPr/>
        </p:nvSpPr>
        <p:spPr>
          <a:xfrm>
            <a:off x="7680960" y="4617720"/>
            <a:ext cx="3959352" cy="160020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7909560" y="4709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52" name="Text 46"/>
          <p:cNvSpPr txBox="1"/>
          <p:nvPr/>
        </p:nvSpPr>
        <p:spPr>
          <a:xfrm>
            <a:off x="7909560" y="5056632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/ Jupyter Notebook</a:t>
            </a:r>
            <a:endParaRPr lang="en-US" sz="1150" dirty="0"/>
          </a:p>
        </p:txBody>
      </p:sp>
      <p:sp>
        <p:nvSpPr>
          <p:cNvPr id="53" name="Text 47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Prediction  |  Machine Learning (25SC2107E)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6386B"/>
          </a:solidFill>
          <a:ln w="12700">
            <a:solidFill>
              <a:srgbClr val="1638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6386B"/>
          </a:solidFill>
          <a:ln w="12700">
            <a:solidFill>
              <a:srgbClr val="1638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03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965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34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simple, understandable prediction of purchase probability.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8862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6386B"/>
          </a:solidFill>
          <a:ln w="12700">
            <a:solidFill>
              <a:srgbClr val="1638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425196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34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4297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51663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complex patterns in customer behavior using multiple decision trees.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17920" y="1554480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0" y="1773936"/>
            <a:ext cx="429768" cy="42976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244" y="189738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40880" y="15544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customer data into useful purchase predictions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17920" y="2542032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2761488"/>
            <a:ext cx="429768" cy="42976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244" y="2884932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2542032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potential customers more effectively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217920" y="3529584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0" y="3749040"/>
            <a:ext cx="429768" cy="42976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244" y="3872484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40880" y="3529584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targeted marketing and personalized offers, reducing unnecessary marketing effort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217920" y="4572000"/>
            <a:ext cx="5422392" cy="1463040"/>
          </a:xfrm>
          <a:prstGeom prst="roundRect">
            <a:avLst>
              <a:gd name="adj" fmla="val 75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492240" y="457200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effective, data-driven approach to predicting customer purchase behavior.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Prediction  |  Machine Learning (25SC2107E)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21145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1920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 datasets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larger, more diverse customer data to improve accuracy and generalization.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9632" y="15544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9672" y="1920240"/>
            <a:ext cx="777240" cy="7772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982" y="21145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25512" y="1920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ML techniques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834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models such as Gradient Boosting, XGBoost and neural networks, along with hyperparameter tuning.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297680"/>
            <a:ext cx="777240" cy="777240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44919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74520" y="42976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prediction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5212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model into e-commerce platforms to predict purchase intent during live sessions.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99632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9672" y="4297680"/>
            <a:ext cx="777240" cy="7772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982" y="449199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25512" y="42976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engagement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6519672" y="5212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personalized offers and recommendations for visitors most likely to buy.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Prediction  |  Machine Learning (25SC2107E)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463040"/>
            <a:ext cx="5852160" cy="5852160"/>
          </a:xfrm>
          <a:prstGeom prst="ellipse">
            <a:avLst/>
          </a:prstGeom>
          <a:solidFill>
            <a:srgbClr val="16386B"/>
          </a:solidFill>
          <a:ln w="12700">
            <a:solidFill>
              <a:srgbClr val="1638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603898"/>
            <a:ext cx="3108960" cy="3108960"/>
          </a:xfrm>
          <a:prstGeom prst="ellipse">
            <a:avLst/>
          </a:prstGeom>
          <a:solidFill>
            <a:srgbClr val="16386B"/>
          </a:solidFill>
          <a:ln w="12700">
            <a:solidFill>
              <a:srgbClr val="16386B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4" name="Shape 2"/>
          <p:cNvSpPr/>
          <p:nvPr/>
        </p:nvSpPr>
        <p:spPr>
          <a:xfrm>
            <a:off x="9006840" y="1097280"/>
            <a:ext cx="2286000" cy="22860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7830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6189" y="21031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712</Words>
  <Application>Microsoft Office PowerPoint</Application>
  <PresentationFormat>Widescreen</PresentationFormat>
  <Paragraphs>176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Purchase Prediction Using Logistic Regression and Random Forest</dc:title>
  <dc:subject>PptxGenJS Presentation</dc:subject>
  <dc:creator>K.Sanjana, G.Keerthi</dc:creator>
  <cp:lastModifiedBy>Sanju</cp:lastModifiedBy>
  <cp:revision>2</cp:revision>
  <dcterms:created xsi:type="dcterms:W3CDTF">2026-09-29T06:43:10Z</dcterms:created>
  <dcterms:modified xsi:type="dcterms:W3CDTF">2026-10-01T06:47:48Z</dcterms:modified>
</cp:coreProperties>
</file>